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12F7F54-8413-EF80-3673-83BAAEDEA8EF}">
          <p14:sldIdLst>
            <p14:sldId id="256"/>
            <p14:sldId id="257"/>
          </p14:sldIdLst>
        </p14:section>
        <p14:section name="Executive answer" id="{F06471E0-289F-7906-0C17-EF316179B238}">
          <p14:sldIdLst>
            <p14:sldId id="258"/>
          </p14:sldIdLst>
        </p14:section>
        <p14:section name="Data and method" id="{9207300A-171D-A600-AB9F-FD0FD4145932}">
          <p14:sldIdLst>
            <p14:sldId id="259"/>
          </p14:sldIdLst>
        </p14:section>
        <p14:section name="Findings" id="{36996CE4-B207-CB7E-7D62-282F696D2C4F}">
          <p14:sldIdLst>
            <p14:sldId id="260"/>
            <p14:sldId id="261"/>
            <p14:sldId id="262"/>
            <p14:sldId id="263"/>
          </p14:sldIdLst>
        </p14:section>
        <p14:section name="Recommendations" id="{DCC50301-1E2D-5E3A-B3DF-C4EE1B8FE2A1}">
          <p14:sldIdLst>
            <p14:sldId id="264"/>
            <p14:sldId id="265"/>
          </p14:sldIdLst>
        </p14:section>
        <p14:section name="Limitations" id="{2CF20376-18EB-1E94-FD26-F7425CBB1D6A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lang="en-ZA" sz="1400" b="0" i="0" u="none" strike="noStrike">
                <a:solidFill>
                  <a:srgbClr val="1F3864"/>
                </a:solidFill>
                <a:latin typeface="+mn-lt"/>
              </a:rPr>
              <a:t>Monthly revenue ($), all stores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ED6-4837-A285-3797967C428C}"/>
              </c:ext>
            </c:extLst>
          </c:dPt>
          <c:dPt>
            <c:idx val="1"/>
            <c:invertIfNegative val="0"/>
            <c:bubble3D val="0"/>
            <c:spPr>
              <a:solidFill>
                <a:srgbClr val="9DC3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ED6-4837-A285-3797967C428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ED6-4837-A285-3797967C428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ED6-4837-A285-3797967C428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ED6-4837-A285-3797967C428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ED6-4837-A285-3797967C428C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0404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81678</c:v>
                </c:pt>
                <c:pt idx="1">
                  <c:v>76145</c:v>
                </c:pt>
                <c:pt idx="2">
                  <c:v>98835</c:v>
                </c:pt>
                <c:pt idx="3">
                  <c:v>118941</c:v>
                </c:pt>
                <c:pt idx="4">
                  <c:v>156728</c:v>
                </c:pt>
                <c:pt idx="5">
                  <c:v>166486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ED6-4837-A285-3797967C42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7E6E6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lang="en-GB" sz="1400" b="0" i="0" u="none" strike="noStrike">
                <a:solidFill>
                  <a:srgbClr val="1F3864"/>
                </a:solidFill>
                <a:latin typeface="+mn-lt"/>
              </a:rPr>
              <a:t>Revenue ($) by 30-minute slot, Jan–Jun 2023 (peak in orange)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99A-402F-BDBA-D224A97ABBE1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D99A-402F-BDBA-D224A97ABBE1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D99A-402F-BDBA-D224A97ABBE1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D99A-402F-BDBA-D224A97ABBE1}"/>
              </c:ext>
            </c:extLst>
          </c:dPt>
          <c:dPt>
            <c:idx val="4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D99A-402F-BDBA-D224A97ABBE1}"/>
              </c:ext>
            </c:extLst>
          </c:dPt>
          <c:dPt>
            <c:idx val="5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D99A-402F-BDBA-D224A97ABBE1}"/>
              </c:ext>
            </c:extLst>
          </c:dPt>
          <c:dPt>
            <c:idx val="6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D99A-402F-BDBA-D224A97ABBE1}"/>
              </c:ext>
            </c:extLst>
          </c:dPt>
          <c:dPt>
            <c:idx val="7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D99A-402F-BDBA-D224A97ABBE1}"/>
              </c:ext>
            </c:extLst>
          </c:dPt>
          <c:dPt>
            <c:idx val="8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D99A-402F-BDBA-D224A97ABBE1}"/>
              </c:ext>
            </c:extLst>
          </c:dPt>
          <c:dPt>
            <c:idx val="9"/>
            <c:invertIfNegative val="0"/>
            <c:bubble3D val="0"/>
            <c:spPr>
              <a:solidFill>
                <a:srgbClr val="ED7D3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D99A-402F-BDBA-D224A97ABBE1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5-D99A-402F-BDBA-D224A97ABBE1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7-D99A-402F-BDBA-D224A97ABBE1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9-D99A-402F-BDBA-D224A97ABBE1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B-D99A-402F-BDBA-D224A97ABBE1}"/>
              </c:ext>
            </c:extLst>
          </c:dPt>
          <c:dPt>
            <c:idx val="1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D-D99A-402F-BDBA-D224A97ABBE1}"/>
              </c:ext>
            </c:extLst>
          </c:dPt>
          <c:dPt>
            <c:idx val="1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1F-D99A-402F-BDBA-D224A97ABBE1}"/>
              </c:ext>
            </c:extLst>
          </c:dPt>
          <c:dPt>
            <c:idx val="1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1-D99A-402F-BDBA-D224A97ABBE1}"/>
              </c:ext>
            </c:extLst>
          </c:dPt>
          <c:dPt>
            <c:idx val="1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3-D99A-402F-BDBA-D224A97ABBE1}"/>
              </c:ext>
            </c:extLst>
          </c:dPt>
          <c:dPt>
            <c:idx val="1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5-D99A-402F-BDBA-D224A97ABBE1}"/>
              </c:ext>
            </c:extLst>
          </c:dPt>
          <c:dPt>
            <c:idx val="1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7-D99A-402F-BDBA-D224A97ABBE1}"/>
              </c:ext>
            </c:extLst>
          </c:dPt>
          <c:dPt>
            <c:idx val="2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9-D99A-402F-BDBA-D224A97ABBE1}"/>
              </c:ext>
            </c:extLst>
          </c:dPt>
          <c:dPt>
            <c:idx val="2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B-D99A-402F-BDBA-D224A97ABBE1}"/>
              </c:ext>
            </c:extLst>
          </c:dPt>
          <c:dPt>
            <c:idx val="2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D-D99A-402F-BDBA-D224A97ABBE1}"/>
              </c:ext>
            </c:extLst>
          </c:dPt>
          <c:dPt>
            <c:idx val="2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2F-D99A-402F-BDBA-D224A97ABBE1}"/>
              </c:ext>
            </c:extLst>
          </c:dPt>
          <c:dPt>
            <c:idx val="2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1-D99A-402F-BDBA-D224A97ABBE1}"/>
              </c:ext>
            </c:extLst>
          </c:dPt>
          <c:dPt>
            <c:idx val="2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3-D99A-402F-BDBA-D224A97ABBE1}"/>
              </c:ext>
            </c:extLst>
          </c:dPt>
          <c:dPt>
            <c:idx val="2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5-D99A-402F-BDBA-D224A97ABBE1}"/>
              </c:ext>
            </c:extLst>
          </c:dPt>
          <c:dPt>
            <c:idx val="2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7-D99A-402F-BDBA-D224A97ABBE1}"/>
              </c:ext>
            </c:extLst>
          </c:dPt>
          <c:dPt>
            <c:idx val="2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9-D99A-402F-BDBA-D224A97ABBE1}"/>
              </c:ext>
            </c:extLst>
          </c:dPt>
          <c:dPt>
            <c:idx val="2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3B-D99A-402F-BDBA-D224A97ABBE1}"/>
              </c:ext>
            </c:extLst>
          </c:dPt>
          <c:cat>
            <c:strRef>
              <c:f>Sheet1!$A$2:$A$31</c:f>
              <c:strCache>
                <c:ptCount val="30"/>
                <c:pt idx="0">
                  <c:v>06:00</c:v>
                </c:pt>
                <c:pt idx="1">
                  <c:v>06:30</c:v>
                </c:pt>
                <c:pt idx="2">
                  <c:v>07:00</c:v>
                </c:pt>
                <c:pt idx="3">
                  <c:v>07:30</c:v>
                </c:pt>
                <c:pt idx="4">
                  <c:v>08:00</c:v>
                </c:pt>
                <c:pt idx="5">
                  <c:v>08:30</c:v>
                </c:pt>
                <c:pt idx="6">
                  <c:v>09:00</c:v>
                </c:pt>
                <c:pt idx="7">
                  <c:v>09:30</c:v>
                </c:pt>
                <c:pt idx="8">
                  <c:v>10:00</c:v>
                </c:pt>
                <c:pt idx="9">
                  <c:v>10:30</c:v>
                </c:pt>
                <c:pt idx="10">
                  <c:v>11:00</c:v>
                </c:pt>
                <c:pt idx="11">
                  <c:v>11:30</c:v>
                </c:pt>
                <c:pt idx="12">
                  <c:v>12:00</c:v>
                </c:pt>
                <c:pt idx="13">
                  <c:v>12:30</c:v>
                </c:pt>
                <c:pt idx="14">
                  <c:v>13:00</c:v>
                </c:pt>
                <c:pt idx="15">
                  <c:v>13:30</c:v>
                </c:pt>
                <c:pt idx="16">
                  <c:v>14:00</c:v>
                </c:pt>
                <c:pt idx="17">
                  <c:v>14:30</c:v>
                </c:pt>
                <c:pt idx="18">
                  <c:v>15:00</c:v>
                </c:pt>
                <c:pt idx="19">
                  <c:v>15:30</c:v>
                </c:pt>
                <c:pt idx="20">
                  <c:v>16:00</c:v>
                </c:pt>
                <c:pt idx="21">
                  <c:v>16:30</c:v>
                </c:pt>
                <c:pt idx="22">
                  <c:v>17:00</c:v>
                </c:pt>
                <c:pt idx="23">
                  <c:v>17:30</c:v>
                </c:pt>
                <c:pt idx="24">
                  <c:v>18:00</c:v>
                </c:pt>
                <c:pt idx="25">
                  <c:v>18:30</c:v>
                </c:pt>
                <c:pt idx="26">
                  <c:v>19:00</c:v>
                </c:pt>
                <c:pt idx="27">
                  <c:v>19:30</c:v>
                </c:pt>
                <c:pt idx="28">
                  <c:v>20:00</c:v>
                </c:pt>
                <c:pt idx="29">
                  <c:v>20:30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6621</c:v>
                </c:pt>
                <c:pt idx="1">
                  <c:v>15280</c:v>
                </c:pt>
                <c:pt idx="2">
                  <c:v>29888</c:v>
                </c:pt>
                <c:pt idx="3">
                  <c:v>33638</c:v>
                </c:pt>
                <c:pt idx="4">
                  <c:v>41307</c:v>
                </c:pt>
                <c:pt idx="5">
                  <c:v>41393</c:v>
                </c:pt>
                <c:pt idx="6">
                  <c:v>42384</c:v>
                </c:pt>
                <c:pt idx="7">
                  <c:v>42785</c:v>
                </c:pt>
                <c:pt idx="8">
                  <c:v>43707</c:v>
                </c:pt>
                <c:pt idx="9">
                  <c:v>44967</c:v>
                </c:pt>
                <c:pt idx="10">
                  <c:v>25609</c:v>
                </c:pt>
                <c:pt idx="11">
                  <c:v>20711</c:v>
                </c:pt>
                <c:pt idx="12">
                  <c:v>20584</c:v>
                </c:pt>
                <c:pt idx="13">
                  <c:v>19609</c:v>
                </c:pt>
                <c:pt idx="14">
                  <c:v>19999</c:v>
                </c:pt>
                <c:pt idx="15">
                  <c:v>20368</c:v>
                </c:pt>
                <c:pt idx="16">
                  <c:v>21508</c:v>
                </c:pt>
                <c:pt idx="17">
                  <c:v>19797</c:v>
                </c:pt>
                <c:pt idx="18">
                  <c:v>20289</c:v>
                </c:pt>
                <c:pt idx="19">
                  <c:v>21445</c:v>
                </c:pt>
                <c:pt idx="20">
                  <c:v>21006</c:v>
                </c:pt>
                <c:pt idx="21">
                  <c:v>20117</c:v>
                </c:pt>
                <c:pt idx="22">
                  <c:v>19536</c:v>
                </c:pt>
                <c:pt idx="23">
                  <c:v>20598</c:v>
                </c:pt>
                <c:pt idx="24">
                  <c:v>19521</c:v>
                </c:pt>
                <c:pt idx="25">
                  <c:v>14765</c:v>
                </c:pt>
                <c:pt idx="26">
                  <c:v>14417</c:v>
                </c:pt>
                <c:pt idx="27">
                  <c:v>14030</c:v>
                </c:pt>
                <c:pt idx="28">
                  <c:v>1327</c:v>
                </c:pt>
                <c:pt idx="29">
                  <c:v>1609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C-D99A-402F-BDBA-D224A97ABB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 rot="-2700000"/>
          <a:lstStyle/>
          <a:p>
            <a:pPr>
              <a:defRPr sz="10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7E6E6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lang="en-GB" sz="1400" b="0" i="0" u="none" strike="noStrike">
                <a:solidFill>
                  <a:srgbClr val="1F3864"/>
                </a:solidFill>
                <a:latin typeface="+mn-lt"/>
              </a:rPr>
              <a:t>Revenue ($) by store, Jan–Jun 2023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3A7-4742-8A3C-76E34731115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43A7-4742-8A3C-76E34731115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43A7-4742-8A3C-76E34731115C}"/>
              </c:ext>
            </c:extLst>
          </c:dPt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0404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Hell's Kitchen</c:v>
                </c:pt>
                <c:pt idx="1">
                  <c:v>Astoria</c:v>
                </c:pt>
                <c:pt idx="2">
                  <c:v>Lower Manhattan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236511</c:v>
                </c:pt>
                <c:pt idx="1">
                  <c:v>232244</c:v>
                </c:pt>
                <c:pt idx="2">
                  <c:v>230057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3A7-4742-8A3C-76E3473111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7E6E6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lang="en-ZA" sz="1400" b="0" i="0" u="none" strike="noStrike">
                <a:solidFill>
                  <a:srgbClr val="1F3864"/>
                </a:solidFill>
                <a:latin typeface="+mn-lt"/>
              </a:rPr>
              <a:t>Units sold by category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9DC3E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433-4FFF-8F9E-1C368AB70DB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433-4FFF-8F9E-1C368AB70DB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433-4FFF-8F9E-1C368AB70DB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433-4FFF-8F9E-1C368AB70DB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433-4FFF-8F9E-1C368AB70DB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433-4FFF-8F9E-1C368AB70DB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B433-4FFF-8F9E-1C368AB70DB5}"/>
              </c:ext>
            </c:extLst>
          </c:dPt>
          <c:dPt>
            <c:idx val="7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433-4FFF-8F9E-1C368AB70DB5}"/>
              </c:ext>
            </c:extLst>
          </c:dPt>
          <c:dPt>
            <c:idx val="8"/>
            <c:invertIfNegative val="0"/>
            <c:bubble3D val="0"/>
            <c:spPr>
              <a:solidFill>
                <a:srgbClr val="2E75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433-4FFF-8F9E-1C368AB70DB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0404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Packaged Chocolate</c:v>
                </c:pt>
                <c:pt idx="1">
                  <c:v>Branded</c:v>
                </c:pt>
                <c:pt idx="2">
                  <c:v>Loose Tea</c:v>
                </c:pt>
                <c:pt idx="3">
                  <c:v>Coffee beans</c:v>
                </c:pt>
                <c:pt idx="4">
                  <c:v>Flavours</c:v>
                </c:pt>
                <c:pt idx="5">
                  <c:v>Drinking Chocolate</c:v>
                </c:pt>
                <c:pt idx="6">
                  <c:v>Bakery</c:v>
                </c:pt>
                <c:pt idx="7">
                  <c:v>Tea</c:v>
                </c:pt>
                <c:pt idx="8">
                  <c:v>Coffee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487</c:v>
                </c:pt>
                <c:pt idx="1">
                  <c:v>776</c:v>
                </c:pt>
                <c:pt idx="2">
                  <c:v>1210</c:v>
                </c:pt>
                <c:pt idx="3">
                  <c:v>1828</c:v>
                </c:pt>
                <c:pt idx="4">
                  <c:v>10511</c:v>
                </c:pt>
                <c:pt idx="5">
                  <c:v>17457</c:v>
                </c:pt>
                <c:pt idx="6">
                  <c:v>23214</c:v>
                </c:pt>
                <c:pt idx="7">
                  <c:v>69737</c:v>
                </c:pt>
                <c:pt idx="8">
                  <c:v>89250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B433-4FFF-8F9E-1C368AB70D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864"/>
                </a:solidFill>
                <a:latin typeface="+mn-lt"/>
              </a:defRPr>
            </a:pPr>
            <a:r>
              <a:rPr lang="en-GB" sz="1400" b="0" i="0" u="none" strike="noStrike">
                <a:solidFill>
                  <a:srgbClr val="1F3864"/>
                </a:solidFill>
                <a:latin typeface="+mn-lt"/>
              </a:rPr>
              <a:t>Top 5 product types by revenue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2E75B6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04040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Brewed Black tea</c:v>
                </c:pt>
                <c:pt idx="1">
                  <c:v>Gourmet brewed coffee</c:v>
                </c:pt>
                <c:pt idx="2">
                  <c:v>Hot chocolate</c:v>
                </c:pt>
                <c:pt idx="3">
                  <c:v>Brewed Chai tea</c:v>
                </c:pt>
                <c:pt idx="4">
                  <c:v>Barista Espresso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47932</c:v>
                </c:pt>
                <c:pt idx="1">
                  <c:v>70035</c:v>
                </c:pt>
                <c:pt idx="2">
                  <c:v>72416</c:v>
                </c:pt>
                <c:pt idx="3">
                  <c:v>77082</c:v>
                </c:pt>
                <c:pt idx="4">
                  <c:v>91406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27-4E7D-A7F3-9420362A78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5848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72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chemeClr val="accent3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rgbClr val="595959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7F7F"/>
                </a:solidFill>
              </a:rPr>
              <a:t>Bright Coffee Shop Sales Analysis  |  DT Mbenga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bg1"/>
                </a:solidFill>
              </a:rPr>
              <a:t>Bright Coffee Shop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dirty="0">
                <a:solidFill>
                  <a:schemeClr val="accent3"/>
                </a:solidFill>
              </a:rPr>
              <a:t>Sales Analysis &amp; Growth Plan</a:t>
            </a:r>
            <a:endParaRPr lang="en-US" sz="2600" dirty="0"/>
          </a:p>
        </p:txBody>
      </p:sp>
      <p:sp>
        <p:nvSpPr>
          <p:cNvPr id="4" name="Logo circle"/>
          <p:cNvSpPr/>
          <p:nvPr/>
        </p:nvSpPr>
        <p:spPr>
          <a:xfrm>
            <a:off x="731520" y="640080"/>
            <a:ext cx="868680" cy="8686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5" name="Logo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857250"/>
            <a:ext cx="434340" cy="434340"/>
          </a:xfrm>
          <a:prstGeom prst="rect">
            <a:avLst/>
          </a:prstGeom>
        </p:spPr>
      </p:pic>
      <p:sp>
        <p:nvSpPr>
          <p:cNvPr id="6" name="Cover tagline"/>
          <p:cNvSpPr txBox="1"/>
          <p:nvPr/>
        </p:nvSpPr>
        <p:spPr>
          <a:xfrm>
            <a:off x="731520" y="36118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D9E2F3"/>
                </a:solidFill>
              </a:rPr>
              <a:t>Executive story from six months of transactions: what is working, where sales are leaking, and what to do next.</a:t>
            </a:r>
            <a:endParaRPr lang="en-US" sz="1800" dirty="0"/>
          </a:p>
        </p:txBody>
      </p:sp>
      <p:sp>
        <p:nvSpPr>
          <p:cNvPr id="7" name="Period pill"/>
          <p:cNvSpPr/>
          <p:nvPr/>
        </p:nvSpPr>
        <p:spPr>
          <a:xfrm>
            <a:off x="731520" y="461772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Period text"/>
          <p:cNvSpPr txBox="1"/>
          <p:nvPr/>
        </p:nvSpPr>
        <p:spPr>
          <a:xfrm>
            <a:off x="731520" y="4617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Jan–Jun 2023</a:t>
            </a:r>
            <a:endParaRPr lang="en-US" sz="1500" dirty="0"/>
          </a:p>
        </p:txBody>
      </p:sp>
      <p:sp>
        <p:nvSpPr>
          <p:cNvPr id="9" name="Cover footer"/>
          <p:cNvSpPr txBox="1"/>
          <p:nvPr/>
        </p:nvSpPr>
        <p:spPr>
          <a:xfrm>
            <a:off x="73152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DC3E6"/>
                </a:solidFill>
              </a:rPr>
              <a:t>Prepared for the CEO  |  DT Mbenga  |  BrightLearn Data Analytics Case Study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Contents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</a:rPr>
              <a:t>The story in five parts, from the answer to the action plan</a:t>
            </a:r>
            <a:endParaRPr lang="en-US" sz="1600" dirty="0"/>
          </a:p>
        </p:txBody>
      </p:sp>
      <p:sp>
        <p:nvSpPr>
          <p:cNvPr id="4" name="Contents row 1"/>
          <p:cNvSpPr/>
          <p:nvPr/>
        </p:nvSpPr>
        <p:spPr>
          <a:xfrm>
            <a:off x="548640" y="16002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Contents number 1"/>
          <p:cNvSpPr txBox="1"/>
          <p:nvPr/>
        </p:nvSpPr>
        <p:spPr>
          <a:xfrm>
            <a:off x="822960" y="160020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01</a:t>
            </a:r>
            <a:endParaRPr lang="en-US" sz="2800" dirty="0"/>
          </a:p>
        </p:txBody>
      </p:sp>
      <p:sp>
        <p:nvSpPr>
          <p:cNvPr id="6" name="Contents title 1"/>
          <p:cNvSpPr txBox="1"/>
          <p:nvPr/>
        </p:nvSpPr>
        <p:spPr>
          <a:xfrm>
            <a:off x="1737360" y="16002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Executive answer</a:t>
            </a:r>
            <a:endParaRPr lang="en-US" sz="2000" dirty="0"/>
          </a:p>
        </p:txBody>
      </p:sp>
      <p:sp>
        <p:nvSpPr>
          <p:cNvPr id="7" name="Contents text 1"/>
          <p:cNvSpPr txBox="1"/>
          <p:nvPr/>
        </p:nvSpPr>
        <p:spPr>
          <a:xfrm>
            <a:off x="5669280" y="160020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</a:rPr>
              <a:t>The one-slide summary for the CEO</a:t>
            </a:r>
            <a:endParaRPr lang="en-US" sz="1500" dirty="0"/>
          </a:p>
        </p:txBody>
      </p:sp>
      <p:sp>
        <p:nvSpPr>
          <p:cNvPr id="8" name="Contents row 2"/>
          <p:cNvSpPr/>
          <p:nvPr/>
        </p:nvSpPr>
        <p:spPr>
          <a:xfrm>
            <a:off x="548640" y="25146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Contents number 2"/>
          <p:cNvSpPr txBox="1"/>
          <p:nvPr/>
        </p:nvSpPr>
        <p:spPr>
          <a:xfrm>
            <a:off x="822960" y="251460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02</a:t>
            </a:r>
            <a:endParaRPr lang="en-US" sz="2800" dirty="0"/>
          </a:p>
        </p:txBody>
      </p:sp>
      <p:sp>
        <p:nvSpPr>
          <p:cNvPr id="10" name="Contents title 2"/>
          <p:cNvSpPr txBox="1"/>
          <p:nvPr/>
        </p:nvSpPr>
        <p:spPr>
          <a:xfrm>
            <a:off x="1737360" y="25146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Data and method</a:t>
            </a:r>
            <a:endParaRPr lang="en-US" sz="2000" dirty="0"/>
          </a:p>
        </p:txBody>
      </p:sp>
      <p:sp>
        <p:nvSpPr>
          <p:cNvPr id="11" name="Contents text 2"/>
          <p:cNvSpPr txBox="1"/>
          <p:nvPr/>
        </p:nvSpPr>
        <p:spPr>
          <a:xfrm>
            <a:off x="5669280" y="251460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</a:rPr>
              <a:t>Scope, cleaning and analysis steps</a:t>
            </a:r>
            <a:endParaRPr lang="en-US" sz="1500" dirty="0"/>
          </a:p>
        </p:txBody>
      </p:sp>
      <p:sp>
        <p:nvSpPr>
          <p:cNvPr id="12" name="Contents row 3"/>
          <p:cNvSpPr/>
          <p:nvPr/>
        </p:nvSpPr>
        <p:spPr>
          <a:xfrm>
            <a:off x="548640" y="34290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Contents number 3"/>
          <p:cNvSpPr txBox="1"/>
          <p:nvPr/>
        </p:nvSpPr>
        <p:spPr>
          <a:xfrm>
            <a:off x="822960" y="342900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03</a:t>
            </a:r>
            <a:endParaRPr lang="en-US" sz="2800" dirty="0"/>
          </a:p>
        </p:txBody>
      </p:sp>
      <p:sp>
        <p:nvSpPr>
          <p:cNvPr id="14" name="Contents title 3"/>
          <p:cNvSpPr txBox="1"/>
          <p:nvPr/>
        </p:nvSpPr>
        <p:spPr>
          <a:xfrm>
            <a:off x="1737360" y="34290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Findings</a:t>
            </a:r>
            <a:endParaRPr lang="en-US" sz="2000" dirty="0"/>
          </a:p>
        </p:txBody>
      </p:sp>
      <p:sp>
        <p:nvSpPr>
          <p:cNvPr id="15" name="Contents text 3"/>
          <p:cNvSpPr txBox="1"/>
          <p:nvPr/>
        </p:nvSpPr>
        <p:spPr>
          <a:xfrm>
            <a:off x="5669280" y="342900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</a:rPr>
              <a:t>Monthly trend, morning rush, stores, products</a:t>
            </a:r>
            <a:endParaRPr lang="en-US" sz="1500" dirty="0"/>
          </a:p>
        </p:txBody>
      </p:sp>
      <p:sp>
        <p:nvSpPr>
          <p:cNvPr id="16" name="Contents row 4"/>
          <p:cNvSpPr/>
          <p:nvPr/>
        </p:nvSpPr>
        <p:spPr>
          <a:xfrm>
            <a:off x="548640" y="43434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Contents number 4"/>
          <p:cNvSpPr txBox="1"/>
          <p:nvPr/>
        </p:nvSpPr>
        <p:spPr>
          <a:xfrm>
            <a:off x="822960" y="434340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04</a:t>
            </a:r>
            <a:endParaRPr lang="en-US" sz="2800" dirty="0"/>
          </a:p>
        </p:txBody>
      </p:sp>
      <p:sp>
        <p:nvSpPr>
          <p:cNvPr id="18" name="Contents title 4"/>
          <p:cNvSpPr txBox="1"/>
          <p:nvPr/>
        </p:nvSpPr>
        <p:spPr>
          <a:xfrm>
            <a:off x="1737360" y="43434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Recommendations</a:t>
            </a:r>
            <a:endParaRPr lang="en-US" sz="2000" dirty="0"/>
          </a:p>
        </p:txBody>
      </p:sp>
      <p:sp>
        <p:nvSpPr>
          <p:cNvPr id="19" name="Contents text 4"/>
          <p:cNvSpPr txBox="1"/>
          <p:nvPr/>
        </p:nvSpPr>
        <p:spPr>
          <a:xfrm>
            <a:off x="5669280" y="434340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</a:rPr>
              <a:t>Four operating moves and a four-week pilot</a:t>
            </a:r>
            <a:endParaRPr lang="en-US" sz="1500" dirty="0"/>
          </a:p>
        </p:txBody>
      </p:sp>
      <p:sp>
        <p:nvSpPr>
          <p:cNvPr id="20" name="Contents row 5"/>
          <p:cNvSpPr/>
          <p:nvPr/>
        </p:nvSpPr>
        <p:spPr>
          <a:xfrm>
            <a:off x="548640" y="525780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Contents number 5"/>
          <p:cNvSpPr txBox="1"/>
          <p:nvPr/>
        </p:nvSpPr>
        <p:spPr>
          <a:xfrm>
            <a:off x="822960" y="5257800"/>
            <a:ext cx="822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05</a:t>
            </a:r>
            <a:endParaRPr lang="en-US" sz="2800" dirty="0"/>
          </a:p>
        </p:txBody>
      </p:sp>
      <p:sp>
        <p:nvSpPr>
          <p:cNvPr id="22" name="Contents title 5"/>
          <p:cNvSpPr txBox="1"/>
          <p:nvPr/>
        </p:nvSpPr>
        <p:spPr>
          <a:xfrm>
            <a:off x="1737360" y="5257800"/>
            <a:ext cx="3840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23" name="Contents text 5"/>
          <p:cNvSpPr txBox="1"/>
          <p:nvPr/>
        </p:nvSpPr>
        <p:spPr>
          <a:xfrm>
            <a:off x="5669280" y="5257800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95959"/>
                </a:solidFill>
              </a:rPr>
              <a:t>What the data cannot answer yet, and what to collect next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Executive answer in one slide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</a:rPr>
              <a:t>The business is growing fast, but revenue is concentrated in the morning rush</a:t>
            </a:r>
            <a:endParaRPr lang="en-US" sz="1600" dirty="0"/>
          </a:p>
        </p:txBody>
      </p:sp>
      <p:sp>
        <p:nvSpPr>
          <p:cNvPr id="4" name="KPI card 1"/>
          <p:cNvSpPr/>
          <p:nvPr/>
        </p:nvSpPr>
        <p:spPr>
          <a:xfrm>
            <a:off x="54864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KPI value 1"/>
          <p:cNvSpPr txBox="1"/>
          <p:nvPr/>
        </p:nvSpPr>
        <p:spPr>
          <a:xfrm>
            <a:off x="777240" y="1691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$698.8k</a:t>
            </a:r>
            <a:endParaRPr lang="en-US" sz="3800" dirty="0"/>
          </a:p>
        </p:txBody>
      </p:sp>
      <p:sp>
        <p:nvSpPr>
          <p:cNvPr id="6" name="KPI label 1"/>
          <p:cNvSpPr txBox="1"/>
          <p:nvPr/>
        </p:nvSpPr>
        <p:spPr>
          <a:xfrm>
            <a:off x="777240" y="2487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DC3E6"/>
                </a:solidFill>
              </a:rPr>
              <a:t>Total revenue</a:t>
            </a:r>
            <a:endParaRPr lang="en-US" sz="1400" dirty="0"/>
          </a:p>
        </p:txBody>
      </p:sp>
      <p:sp>
        <p:nvSpPr>
          <p:cNvPr id="7" name="KPI card 2"/>
          <p:cNvSpPr/>
          <p:nvPr/>
        </p:nvSpPr>
        <p:spPr>
          <a:xfrm>
            <a:off x="336042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KPI value 2"/>
          <p:cNvSpPr txBox="1"/>
          <p:nvPr/>
        </p:nvSpPr>
        <p:spPr>
          <a:xfrm>
            <a:off x="3589020" y="1691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149,116</a:t>
            </a:r>
            <a:endParaRPr lang="en-US" sz="3800" dirty="0"/>
          </a:p>
        </p:txBody>
      </p:sp>
      <p:sp>
        <p:nvSpPr>
          <p:cNvPr id="9" name="KPI label 2"/>
          <p:cNvSpPr txBox="1"/>
          <p:nvPr/>
        </p:nvSpPr>
        <p:spPr>
          <a:xfrm>
            <a:off x="3589020" y="2487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DC3E6"/>
                </a:solidFill>
              </a:rPr>
              <a:t>Transactions</a:t>
            </a:r>
            <a:endParaRPr lang="en-US" sz="1400" dirty="0"/>
          </a:p>
        </p:txBody>
      </p:sp>
      <p:sp>
        <p:nvSpPr>
          <p:cNvPr id="10" name="KPI card 3"/>
          <p:cNvSpPr/>
          <p:nvPr/>
        </p:nvSpPr>
        <p:spPr>
          <a:xfrm>
            <a:off x="617220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KPI value 3"/>
          <p:cNvSpPr txBox="1"/>
          <p:nvPr/>
        </p:nvSpPr>
        <p:spPr>
          <a:xfrm>
            <a:off x="6400800" y="1691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+104%</a:t>
            </a:r>
            <a:endParaRPr lang="en-US" sz="3800" dirty="0"/>
          </a:p>
        </p:txBody>
      </p:sp>
      <p:sp>
        <p:nvSpPr>
          <p:cNvPr id="12" name="KPI label 3"/>
          <p:cNvSpPr txBox="1"/>
          <p:nvPr/>
        </p:nvSpPr>
        <p:spPr>
          <a:xfrm>
            <a:off x="6400800" y="2487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DC3E6"/>
                </a:solidFill>
              </a:rPr>
              <a:t>Jan–Jun revenue growth</a:t>
            </a:r>
            <a:endParaRPr lang="en-US" sz="1400" dirty="0"/>
          </a:p>
        </p:txBody>
      </p:sp>
      <p:sp>
        <p:nvSpPr>
          <p:cNvPr id="13" name="KPI card 4"/>
          <p:cNvSpPr/>
          <p:nvPr/>
        </p:nvSpPr>
        <p:spPr>
          <a:xfrm>
            <a:off x="8983980" y="1600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KPI value 4"/>
          <p:cNvSpPr txBox="1"/>
          <p:nvPr/>
        </p:nvSpPr>
        <p:spPr>
          <a:xfrm>
            <a:off x="9212580" y="169164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56%</a:t>
            </a:r>
            <a:endParaRPr lang="en-US" sz="3800" dirty="0"/>
          </a:p>
        </p:txBody>
      </p:sp>
      <p:sp>
        <p:nvSpPr>
          <p:cNvPr id="15" name="KPI label 4"/>
          <p:cNvSpPr txBox="1"/>
          <p:nvPr/>
        </p:nvSpPr>
        <p:spPr>
          <a:xfrm>
            <a:off x="9212580" y="2487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DC3E6"/>
                </a:solidFill>
              </a:rPr>
              <a:t>Revenue before noon</a:t>
            </a:r>
            <a:endParaRPr lang="en-US" sz="1400" dirty="0"/>
          </a:p>
        </p:txBody>
      </p:sp>
      <p:sp>
        <p:nvSpPr>
          <p:cNvPr id="16" name="CEO message card"/>
          <p:cNvSpPr/>
          <p:nvPr/>
        </p:nvSpPr>
        <p:spPr>
          <a:xfrm>
            <a:off x="548640" y="3291840"/>
            <a:ext cx="69494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CEO message"/>
          <p:cNvSpPr txBox="1"/>
          <p:nvPr/>
        </p:nvSpPr>
        <p:spPr>
          <a:xfrm>
            <a:off x="822960" y="347472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CEO message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</a:rPr>
              <a:t>Bright Coffee has a strong growth engine, but it depends heavily on morning traffic. The fastest wins are operational: staff and stock the morning peak, then test targeted offers to lift the quieter hours.</a:t>
            </a:r>
            <a:endParaRPr lang="en-US" sz="1500" dirty="0"/>
          </a:p>
        </p:txBody>
      </p:sp>
      <p:sp>
        <p:nvSpPr>
          <p:cNvPr id="18" name="Strategic focus card"/>
          <p:cNvSpPr/>
          <p:nvPr/>
        </p:nvSpPr>
        <p:spPr>
          <a:xfrm>
            <a:off x="7772400" y="3291840"/>
            <a:ext cx="3840480" cy="2423160"/>
          </a:xfrm>
          <a:prstGeom prst="roundRect">
            <a:avLst>
              <a:gd name="adj" fmla="val 3019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Focus circle"/>
          <p:cNvSpPr/>
          <p:nvPr/>
        </p:nvSpPr>
        <p:spPr>
          <a:xfrm>
            <a:off x="8046720" y="352044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0" name="Focus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3680460"/>
            <a:ext cx="320040" cy="320040"/>
          </a:xfrm>
          <a:prstGeom prst="rect">
            <a:avLst/>
          </a:prstGeom>
        </p:spPr>
      </p:pic>
      <p:sp>
        <p:nvSpPr>
          <p:cNvPr id="21" name="Strategic focus"/>
          <p:cNvSpPr txBox="1"/>
          <p:nvPr/>
        </p:nvSpPr>
        <p:spPr>
          <a:xfrm>
            <a:off x="8046720" y="429768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Strategic focus</a:t>
            </a:r>
            <a:endParaRPr lang="en-US" sz="1500" dirty="0"/>
          </a:p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Protect the peak. Grow the afternoon.</a:t>
            </a:r>
            <a:endParaRPr lang="en-US" sz="1500" dirty="0"/>
          </a:p>
        </p:txBody>
      </p:sp>
      <p:sp>
        <p:nvSpPr>
          <p:cNvPr id="22" name="Decision focus"/>
          <p:cNvSpPr txBox="1"/>
          <p:nvPr/>
        </p:nvSpPr>
        <p:spPr>
          <a:xfrm>
            <a:off x="548640" y="585216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Decision focus: </a:t>
            </a:r>
            <a:r>
              <a:rPr lang="en-US" sz="1500" dirty="0">
                <a:solidFill>
                  <a:srgbClr val="262626"/>
                </a:solidFill>
              </a:rPr>
              <a:t>do not chase new stores first. Extract more revenue from the same stores and the same traffic patterns.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Data and method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</a:rPr>
              <a:t>A simple, auditable path from raw transactions to CEO decisions</a:t>
            </a:r>
            <a:endParaRPr lang="en-US" sz="1600" dirty="0"/>
          </a:p>
        </p:txBody>
      </p:sp>
      <p:sp>
        <p:nvSpPr>
          <p:cNvPr id="4" name="Step card 1"/>
          <p:cNvSpPr/>
          <p:nvPr/>
        </p:nvSpPr>
        <p:spPr>
          <a:xfrm>
            <a:off x="548640" y="16002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tep 1 circle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6" name="Step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30" y="1931670"/>
            <a:ext cx="297180" cy="297180"/>
          </a:xfrm>
          <a:prstGeom prst="rect">
            <a:avLst/>
          </a:prstGeom>
        </p:spPr>
      </p:pic>
      <p:sp>
        <p:nvSpPr>
          <p:cNvPr id="7" name="Step title 1"/>
          <p:cNvSpPr txBox="1"/>
          <p:nvPr/>
        </p:nvSpPr>
        <p:spPr>
          <a:xfrm>
            <a:off x="150876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Inspect</a:t>
            </a:r>
            <a:endParaRPr lang="en-US" sz="1800" dirty="0"/>
          </a:p>
        </p:txBody>
      </p:sp>
      <p:sp>
        <p:nvSpPr>
          <p:cNvPr id="8" name="Step text 1"/>
          <p:cNvSpPr txBox="1"/>
          <p:nvPr/>
        </p:nvSpPr>
        <p:spPr>
          <a:xfrm>
            <a:off x="777240" y="251460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</a:rPr>
              <a:t>Dates, prices, quantities and missing values checked in Databricks SQL</a:t>
            </a:r>
            <a:endParaRPr lang="en-US" sz="1400" dirty="0"/>
          </a:p>
        </p:txBody>
      </p:sp>
      <p:sp>
        <p:nvSpPr>
          <p:cNvPr id="9" name="Step arrow 1"/>
          <p:cNvSpPr/>
          <p:nvPr/>
        </p:nvSpPr>
        <p:spPr>
          <a:xfrm>
            <a:off x="3127248" y="2514600"/>
            <a:ext cx="256032" cy="32004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tep card 2"/>
          <p:cNvSpPr/>
          <p:nvPr/>
        </p:nvSpPr>
        <p:spPr>
          <a:xfrm>
            <a:off x="3429000" y="16002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Step 2 circle"/>
          <p:cNvSpPr/>
          <p:nvPr/>
        </p:nvSpPr>
        <p:spPr>
          <a:xfrm>
            <a:off x="3657600" y="1783080"/>
            <a:ext cx="594360" cy="5943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2" name="Step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6190" y="1931670"/>
            <a:ext cx="297180" cy="297180"/>
          </a:xfrm>
          <a:prstGeom prst="rect">
            <a:avLst/>
          </a:prstGeom>
        </p:spPr>
      </p:pic>
      <p:sp>
        <p:nvSpPr>
          <p:cNvPr id="13" name="Step title 2"/>
          <p:cNvSpPr txBox="1"/>
          <p:nvPr/>
        </p:nvSpPr>
        <p:spPr>
          <a:xfrm>
            <a:off x="438912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Process</a:t>
            </a:r>
            <a:endParaRPr lang="en-US" sz="1800" dirty="0"/>
          </a:p>
        </p:txBody>
      </p:sp>
      <p:sp>
        <p:nvSpPr>
          <p:cNvPr id="14" name="Step text 2"/>
          <p:cNvSpPr txBox="1"/>
          <p:nvPr/>
        </p:nvSpPr>
        <p:spPr>
          <a:xfrm>
            <a:off x="3657600" y="251460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</a:rPr>
              <a:t>Fields cleaned; revenue = price × quantity; 30-minute time slots added</a:t>
            </a:r>
            <a:endParaRPr lang="en-US" sz="1400" dirty="0"/>
          </a:p>
        </p:txBody>
      </p:sp>
      <p:sp>
        <p:nvSpPr>
          <p:cNvPr id="15" name="Step arrow 2"/>
          <p:cNvSpPr/>
          <p:nvPr/>
        </p:nvSpPr>
        <p:spPr>
          <a:xfrm>
            <a:off x="6007608" y="2514600"/>
            <a:ext cx="256032" cy="32004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tep card 3"/>
          <p:cNvSpPr/>
          <p:nvPr/>
        </p:nvSpPr>
        <p:spPr>
          <a:xfrm>
            <a:off x="6309360" y="16002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tep 3 circle"/>
          <p:cNvSpPr/>
          <p:nvPr/>
        </p:nvSpPr>
        <p:spPr>
          <a:xfrm>
            <a:off x="6537960" y="1783080"/>
            <a:ext cx="594360" cy="5943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8" name="Step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0" y="1931670"/>
            <a:ext cx="297180" cy="297180"/>
          </a:xfrm>
          <a:prstGeom prst="rect">
            <a:avLst/>
          </a:prstGeom>
        </p:spPr>
      </p:pic>
      <p:sp>
        <p:nvSpPr>
          <p:cNvPr id="19" name="Step title 3"/>
          <p:cNvSpPr txBox="1"/>
          <p:nvPr/>
        </p:nvSpPr>
        <p:spPr>
          <a:xfrm>
            <a:off x="726948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Analyse</a:t>
            </a:r>
            <a:endParaRPr lang="en-US" sz="1800" dirty="0"/>
          </a:p>
        </p:txBody>
      </p:sp>
      <p:sp>
        <p:nvSpPr>
          <p:cNvPr id="20" name="Step text 3"/>
          <p:cNvSpPr txBox="1"/>
          <p:nvPr/>
        </p:nvSpPr>
        <p:spPr>
          <a:xfrm>
            <a:off x="6537960" y="251460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</a:rPr>
              <a:t>Excel pivots, charts and slicers; dashboards in four BI tools</a:t>
            </a:r>
            <a:endParaRPr lang="en-US" sz="1400" dirty="0"/>
          </a:p>
        </p:txBody>
      </p:sp>
      <p:sp>
        <p:nvSpPr>
          <p:cNvPr id="21" name="Step arrow 3"/>
          <p:cNvSpPr/>
          <p:nvPr/>
        </p:nvSpPr>
        <p:spPr>
          <a:xfrm>
            <a:off x="8887968" y="2514600"/>
            <a:ext cx="256032" cy="320040"/>
          </a:xfrm>
          <a:prstGeom prst="rightArrow">
            <a:avLst/>
          </a:prstGeom>
          <a:solidFill>
            <a:srgbClr val="9DC3E6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tep card 4"/>
          <p:cNvSpPr/>
          <p:nvPr/>
        </p:nvSpPr>
        <p:spPr>
          <a:xfrm>
            <a:off x="9189720" y="1600200"/>
            <a:ext cx="25146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Step 4 circle"/>
          <p:cNvSpPr/>
          <p:nvPr/>
        </p:nvSpPr>
        <p:spPr>
          <a:xfrm>
            <a:off x="9418320" y="1783080"/>
            <a:ext cx="594360" cy="59436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4" name="Step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66910" y="1931670"/>
            <a:ext cx="297180" cy="297180"/>
          </a:xfrm>
          <a:prstGeom prst="rect">
            <a:avLst/>
          </a:prstGeom>
        </p:spPr>
      </p:pic>
      <p:sp>
        <p:nvSpPr>
          <p:cNvPr id="25" name="Step title 4"/>
          <p:cNvSpPr txBox="1"/>
          <p:nvPr/>
        </p:nvSpPr>
        <p:spPr>
          <a:xfrm>
            <a:off x="10149840" y="17830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Recommend</a:t>
            </a:r>
            <a:endParaRPr lang="en-US" sz="1800" dirty="0"/>
          </a:p>
        </p:txBody>
      </p:sp>
      <p:sp>
        <p:nvSpPr>
          <p:cNvPr id="26" name="Step text 4"/>
          <p:cNvSpPr txBox="1"/>
          <p:nvPr/>
        </p:nvSpPr>
        <p:spPr>
          <a:xfrm>
            <a:off x="9418320" y="2514600"/>
            <a:ext cx="2103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</a:rPr>
              <a:t>Every action linked directly to a finding</a:t>
            </a:r>
            <a:endParaRPr lang="en-US" sz="1400" dirty="0"/>
          </a:p>
        </p:txBody>
      </p:sp>
      <p:sp>
        <p:nvSpPr>
          <p:cNvPr id="27" name="Data scope card"/>
          <p:cNvSpPr/>
          <p:nvPr/>
        </p:nvSpPr>
        <p:spPr>
          <a:xfrm>
            <a:off x="548640" y="402336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Data scope"/>
          <p:cNvSpPr txBox="1"/>
          <p:nvPr/>
        </p:nvSpPr>
        <p:spPr>
          <a:xfrm>
            <a:off x="822960" y="416052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Data scope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Period: </a:t>
            </a:r>
            <a:r>
              <a:rPr lang="en-US" sz="1500" dirty="0">
                <a:solidFill>
                  <a:srgbClr val="262626"/>
                </a:solidFill>
              </a:rPr>
              <a:t>1 Jan – 30 Jun 2023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Rows: </a:t>
            </a:r>
            <a:r>
              <a:rPr lang="en-US" sz="1500" dirty="0">
                <a:solidFill>
                  <a:srgbClr val="262626"/>
                </a:solidFill>
              </a:rPr>
              <a:t>149,116 sales records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Products: </a:t>
            </a:r>
            <a:r>
              <a:rPr lang="en-US" sz="1500" dirty="0">
                <a:solidFill>
                  <a:srgbClr val="262626"/>
                </a:solidFill>
              </a:rPr>
              <a:t>80 products in 9 categories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Stores: </a:t>
            </a:r>
            <a:r>
              <a:rPr lang="en-US" sz="1500" dirty="0">
                <a:solidFill>
                  <a:srgbClr val="262626"/>
                </a:solidFill>
              </a:rPr>
              <a:t>Astoria, Hell's Kitchen, Lower Manhattan (New York)</a:t>
            </a:r>
            <a:endParaRPr lang="en-US" sz="15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Currency: </a:t>
            </a:r>
            <a:r>
              <a:rPr lang="en-US" sz="1500" dirty="0">
                <a:solidFill>
                  <a:srgbClr val="262626"/>
                </a:solidFill>
              </a:rPr>
              <a:t>USD (assumed)</a:t>
            </a:r>
            <a:endParaRPr lang="en-US" sz="1500" dirty="0"/>
          </a:p>
        </p:txBody>
      </p:sp>
      <p:sp>
        <p:nvSpPr>
          <p:cNvPr id="29" name="What this means card"/>
          <p:cNvSpPr/>
          <p:nvPr/>
        </p:nvSpPr>
        <p:spPr>
          <a:xfrm>
            <a:off x="6309360" y="4023360"/>
            <a:ext cx="5303520" cy="2148840"/>
          </a:xfrm>
          <a:prstGeom prst="roundRect">
            <a:avLst>
              <a:gd name="adj" fmla="val 3404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What this means"/>
          <p:cNvSpPr txBox="1"/>
          <p:nvPr/>
        </p:nvSpPr>
        <p:spPr>
          <a:xfrm>
            <a:off x="6583680" y="416052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What this means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262626"/>
                </a:solidFill>
              </a:rPr>
              <a:t>The data can guide sales, staffing and product decisions. It cannot yet answer gross margin, profitability or customer-retention questions.</a:t>
            </a:r>
            <a:endParaRPr lang="en-US" sz="15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Revenue doubled in six months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</a:rPr>
              <a:t>Growth came mainly from more transactions, not from higher prices</a:t>
            </a:r>
            <a:endParaRPr lang="en-US" sz="1600" dirty="0"/>
          </a:p>
        </p:txBody>
      </p:sp>
      <p:sp>
        <p:nvSpPr>
          <p:cNvPr id="4" name="Monthly chart card"/>
          <p:cNvSpPr/>
          <p:nvPr/>
        </p:nvSpPr>
        <p:spPr>
          <a:xfrm>
            <a:off x="548640" y="1600200"/>
            <a:ext cx="72237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graphicFrame>
        <p:nvGraphicFramePr>
          <p:cNvPr id="5" name="Monthly revenue chart"/>
          <p:cNvGraphicFramePr/>
          <p:nvPr/>
        </p:nvGraphicFramePr>
        <p:xfrm>
          <a:off x="685800" y="1691640"/>
          <a:ext cx="69494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Insight growth card"/>
          <p:cNvSpPr/>
          <p:nvPr/>
        </p:nvSpPr>
        <p:spPr>
          <a:xfrm>
            <a:off x="8046720" y="16002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Insight growth"/>
          <p:cNvSpPr txBox="1"/>
          <p:nvPr/>
        </p:nvSpPr>
        <p:spPr>
          <a:xfrm>
            <a:off x="8275320" y="176479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+104% growth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Revenue increased from $81.7k in January to $166.5k in June.</a:t>
            </a:r>
            <a:endParaRPr lang="en-US" sz="1500" dirty="0"/>
          </a:p>
        </p:txBody>
      </p:sp>
      <p:sp>
        <p:nvSpPr>
          <p:cNvPr id="8" name="Insight dip card"/>
          <p:cNvSpPr/>
          <p:nvPr/>
        </p:nvSpPr>
        <p:spPr>
          <a:xfrm>
            <a:off x="8046720" y="32004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Insight dip"/>
          <p:cNvSpPr txBox="1"/>
          <p:nvPr/>
        </p:nvSpPr>
        <p:spPr>
          <a:xfrm>
            <a:off x="8275320" y="336499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Only one dip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February dipped by 7% (light bar), then every month improved.</a:t>
            </a:r>
            <a:endParaRPr lang="en-US" sz="1500" dirty="0"/>
          </a:p>
        </p:txBody>
      </p:sp>
      <p:sp>
        <p:nvSpPr>
          <p:cNvPr id="10" name="Insight signal card"/>
          <p:cNvSpPr/>
          <p:nvPr/>
        </p:nvSpPr>
        <p:spPr>
          <a:xfrm>
            <a:off x="8046720" y="480060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Insight signal"/>
          <p:cNvSpPr txBox="1"/>
          <p:nvPr/>
        </p:nvSpPr>
        <p:spPr>
          <a:xfrm>
            <a:off x="8275320" y="496519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Operational signal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If demand keeps rising, the risk is peak-time queues and lost sales, not lack of demand.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The morning rush is the growth engine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</a:rPr>
              <a:t>Revenue concentrates sharply between 08:00 and 10:30</a:t>
            </a:r>
            <a:endParaRPr lang="en-US" sz="1600" dirty="0"/>
          </a:p>
        </p:txBody>
      </p:sp>
      <p:sp>
        <p:nvSpPr>
          <p:cNvPr id="4" name="Time chart card"/>
          <p:cNvSpPr/>
          <p:nvPr/>
        </p:nvSpPr>
        <p:spPr>
          <a:xfrm>
            <a:off x="548640" y="1600200"/>
            <a:ext cx="7680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graphicFrame>
        <p:nvGraphicFramePr>
          <p:cNvPr id="5" name="Time slot chart"/>
          <p:cNvGraphicFramePr/>
          <p:nvPr/>
        </p:nvGraphicFramePr>
        <p:xfrm>
          <a:off x="685800" y="1691640"/>
          <a:ext cx="740664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Insight noon card"/>
          <p:cNvSpPr/>
          <p:nvPr/>
        </p:nvSpPr>
        <p:spPr>
          <a:xfrm>
            <a:off x="8503920" y="160020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Insight noon"/>
          <p:cNvSpPr txBox="1"/>
          <p:nvPr/>
        </p:nvSpPr>
        <p:spPr>
          <a:xfrm>
            <a:off x="8732520" y="176479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56% before noon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More than half of revenue is earned before midday.</a:t>
            </a:r>
            <a:endParaRPr lang="en-US" sz="1500" dirty="0"/>
          </a:p>
        </p:txBody>
      </p:sp>
      <p:sp>
        <p:nvSpPr>
          <p:cNvPr id="8" name="Insight drop card"/>
          <p:cNvSpPr/>
          <p:nvPr/>
        </p:nvSpPr>
        <p:spPr>
          <a:xfrm>
            <a:off x="8503920" y="320040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Insight drop"/>
          <p:cNvSpPr txBox="1"/>
          <p:nvPr/>
        </p:nvSpPr>
        <p:spPr>
          <a:xfrm>
            <a:off x="8732520" y="336499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43% drop at 11:00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Revenue falls from $45.0k (10:30) to $25.6k and stays flat.</a:t>
            </a:r>
            <a:endParaRPr lang="en-US" sz="1500" dirty="0"/>
          </a:p>
        </p:txBody>
      </p:sp>
      <p:sp>
        <p:nvSpPr>
          <p:cNvPr id="10" name="Insight action card"/>
          <p:cNvSpPr/>
          <p:nvPr/>
        </p:nvSpPr>
        <p:spPr>
          <a:xfrm>
            <a:off x="8503920" y="480060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Insight action"/>
          <p:cNvSpPr txBox="1"/>
          <p:nvPr/>
        </p:nvSpPr>
        <p:spPr>
          <a:xfrm>
            <a:off x="8732520" y="4965192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CEO action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Protect the peak first, then test afternoon demand stimulation.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Stores are balanced — learn from the small differences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</a:rPr>
              <a:t>Each store earns about one third of revenue; Lower Manhattan has the strongest basket value</a:t>
            </a:r>
            <a:endParaRPr lang="en-US" sz="1600" dirty="0"/>
          </a:p>
        </p:txBody>
      </p:sp>
      <p:sp>
        <p:nvSpPr>
          <p:cNvPr id="4" name="Store chart card"/>
          <p:cNvSpPr/>
          <p:nvPr/>
        </p:nvSpPr>
        <p:spPr>
          <a:xfrm>
            <a:off x="548640" y="16002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graphicFrame>
        <p:nvGraphicFramePr>
          <p:cNvPr id="5" name="Store revenue chart"/>
          <p:cNvGraphicFramePr/>
          <p:nvPr/>
        </p:nvGraphicFramePr>
        <p:xfrm>
          <a:off x="685800" y="1691640"/>
          <a:ext cx="52120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Sto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00200"/>
          <a:ext cx="5303520" cy="16459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Store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Avg sale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Hell's Kitchen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$236.5k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33.8%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$4.66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Astoria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$232.2k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33.2%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$4.59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62626"/>
                          </a:solidFill>
                        </a:rPr>
                        <a:t>Lower Manhattan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$230.1k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62626"/>
                          </a:solidFill>
                        </a:rPr>
                        <a:t>32.9%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D7D31"/>
                          </a:solidFill>
                        </a:rPr>
                        <a:t>$4.81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DC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Insight stores card"/>
          <p:cNvSpPr/>
          <p:nvPr/>
        </p:nvSpPr>
        <p:spPr>
          <a:xfrm>
            <a:off x="6309360" y="352044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Insight stores"/>
          <p:cNvSpPr txBox="1"/>
          <p:nvPr/>
        </p:nvSpPr>
        <p:spPr>
          <a:xfrm>
            <a:off x="6537960" y="368503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Practical reading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The stores are not far apart. The opportunity is not to fix one bad store; it is to spread the behaviours that lift average sale.</a:t>
            </a:r>
            <a:endParaRPr lang="en-US" sz="1500" dirty="0"/>
          </a:p>
        </p:txBody>
      </p:sp>
      <p:sp>
        <p:nvSpPr>
          <p:cNvPr id="9" name="Insight benchmark card"/>
          <p:cNvSpPr/>
          <p:nvPr/>
        </p:nvSpPr>
        <p:spPr>
          <a:xfrm>
            <a:off x="6309360" y="4937760"/>
            <a:ext cx="530352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Insight benchmark"/>
          <p:cNvSpPr txBox="1"/>
          <p:nvPr/>
        </p:nvSpPr>
        <p:spPr>
          <a:xfrm>
            <a:off x="6537960" y="51023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Upselling benchmark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Use Lower Manhattan's $4.81 average sale as the training benchmark for all stores.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Coffee and tea carry the business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</a:rPr>
              <a:t>Core beverages drive volume; retail items need a different commercial approach</a:t>
            </a:r>
            <a:endParaRPr lang="en-US" sz="1600" dirty="0"/>
          </a:p>
        </p:txBody>
      </p:sp>
      <p:sp>
        <p:nvSpPr>
          <p:cNvPr id="4" name="Category chart card"/>
          <p:cNvSpPr/>
          <p:nvPr/>
        </p:nvSpPr>
        <p:spPr>
          <a:xfrm>
            <a:off x="548640" y="1600200"/>
            <a:ext cx="548640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graphicFrame>
        <p:nvGraphicFramePr>
          <p:cNvPr id="5" name="Category units chart"/>
          <p:cNvGraphicFramePr/>
          <p:nvPr/>
        </p:nvGraphicFramePr>
        <p:xfrm>
          <a:off x="685800" y="1691640"/>
          <a:ext cx="521208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Product type chart card"/>
          <p:cNvSpPr/>
          <p:nvPr/>
        </p:nvSpPr>
        <p:spPr>
          <a:xfrm>
            <a:off x="6309360" y="1600200"/>
            <a:ext cx="53035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graphicFrame>
        <p:nvGraphicFramePr>
          <p:cNvPr id="7" name="Top product types chart"/>
          <p:cNvGraphicFramePr/>
          <p:nvPr/>
        </p:nvGraphicFramePr>
        <p:xfrm>
          <a:off x="6446520" y="169164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Insight products card"/>
          <p:cNvSpPr/>
          <p:nvPr/>
        </p:nvSpPr>
        <p:spPr>
          <a:xfrm>
            <a:off x="6309360" y="4709160"/>
            <a:ext cx="53035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Insight products"/>
          <p:cNvSpPr txBox="1"/>
          <p:nvPr/>
        </p:nvSpPr>
        <p:spPr>
          <a:xfrm>
            <a:off x="6537960" y="4873752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Recommendation logic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Coffee and Tea = 74% of units; retail items = 10% of revenue. Keep the core and use top drinks to pull slow retail items through bundles.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Recommended operating moves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</a:rPr>
              <a:t>Four actions linked directly to the findings</a:t>
            </a:r>
            <a:endParaRPr lang="en-US" sz="1600" dirty="0"/>
          </a:p>
        </p:txBody>
      </p:sp>
      <p:sp>
        <p:nvSpPr>
          <p:cNvPr id="4" name="Action card 1"/>
          <p:cNvSpPr/>
          <p:nvPr/>
        </p:nvSpPr>
        <p:spPr>
          <a:xfrm>
            <a:off x="548640" y="16002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Action 1 circle"/>
          <p:cNvSpPr/>
          <p:nvPr/>
        </p:nvSpPr>
        <p:spPr>
          <a:xfrm>
            <a:off x="822960" y="187452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6" name="Acti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57400"/>
            <a:ext cx="365760" cy="365760"/>
          </a:xfrm>
          <a:prstGeom prst="rect">
            <a:avLst/>
          </a:prstGeom>
        </p:spPr>
      </p:pic>
      <p:sp>
        <p:nvSpPr>
          <p:cNvPr id="7" name="Action title 1"/>
          <p:cNvSpPr txBox="1"/>
          <p:nvPr/>
        </p:nvSpPr>
        <p:spPr>
          <a:xfrm>
            <a:off x="178308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Staff the peak</a:t>
            </a:r>
            <a:endParaRPr lang="en-US" sz="1900" dirty="0"/>
          </a:p>
        </p:txBody>
      </p:sp>
      <p:sp>
        <p:nvSpPr>
          <p:cNvPr id="8" name="Action tag 1"/>
          <p:cNvSpPr/>
          <p:nvPr/>
        </p:nvSpPr>
        <p:spPr>
          <a:xfrm>
            <a:off x="4617720" y="18745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Action tag text 1"/>
          <p:cNvSpPr txBox="1"/>
          <p:nvPr/>
        </p:nvSpPr>
        <p:spPr>
          <a:xfrm>
            <a:off x="461772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 NOW</a:t>
            </a:r>
            <a:endParaRPr lang="en-US" sz="1200" dirty="0"/>
          </a:p>
        </p:txBody>
      </p:sp>
      <p:sp>
        <p:nvSpPr>
          <p:cNvPr id="10" name="Action text 1"/>
          <p:cNvSpPr txBox="1"/>
          <p:nvPr/>
        </p:nvSpPr>
        <p:spPr>
          <a:xfrm>
            <a:off x="1783080" y="23774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2626"/>
                </a:solidFill>
              </a:rPr>
              <a:t>Put more staff and stock onto 08:00–10:30 to reduce queues and protect sales.</a:t>
            </a:r>
            <a:endParaRPr lang="en-US" sz="1500" dirty="0"/>
          </a:p>
        </p:txBody>
      </p:sp>
      <p:sp>
        <p:nvSpPr>
          <p:cNvPr id="11" name="Action card 2"/>
          <p:cNvSpPr/>
          <p:nvPr/>
        </p:nvSpPr>
        <p:spPr>
          <a:xfrm>
            <a:off x="6217920" y="160020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Action 2 circle"/>
          <p:cNvSpPr/>
          <p:nvPr/>
        </p:nvSpPr>
        <p:spPr>
          <a:xfrm>
            <a:off x="6492240" y="187452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3" name="Acti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057400"/>
            <a:ext cx="365760" cy="365760"/>
          </a:xfrm>
          <a:prstGeom prst="rect">
            <a:avLst/>
          </a:prstGeom>
        </p:spPr>
      </p:pic>
      <p:sp>
        <p:nvSpPr>
          <p:cNvPr id="14" name="Action title 2"/>
          <p:cNvSpPr txBox="1"/>
          <p:nvPr/>
        </p:nvSpPr>
        <p:spPr>
          <a:xfrm>
            <a:off x="7452360" y="18288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Lift the afternoon</a:t>
            </a:r>
            <a:endParaRPr lang="en-US" sz="1900" dirty="0"/>
          </a:p>
        </p:txBody>
      </p:sp>
      <p:sp>
        <p:nvSpPr>
          <p:cNvPr id="15" name="Action tag 2"/>
          <p:cNvSpPr/>
          <p:nvPr/>
        </p:nvSpPr>
        <p:spPr>
          <a:xfrm>
            <a:off x="10287000" y="187452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Action tag text 2"/>
          <p:cNvSpPr txBox="1"/>
          <p:nvPr/>
        </p:nvSpPr>
        <p:spPr>
          <a:xfrm>
            <a:off x="1028700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TEST</a:t>
            </a:r>
            <a:endParaRPr lang="en-US" sz="1200" dirty="0"/>
          </a:p>
        </p:txBody>
      </p:sp>
      <p:sp>
        <p:nvSpPr>
          <p:cNvPr id="17" name="Action text 2"/>
          <p:cNvSpPr txBox="1"/>
          <p:nvPr/>
        </p:nvSpPr>
        <p:spPr>
          <a:xfrm>
            <a:off x="7452360" y="23774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2626"/>
                </a:solidFill>
              </a:rPr>
              <a:t>Test 2-for-1 tea or coffee + pastry offers after 11:00.</a:t>
            </a:r>
            <a:endParaRPr lang="en-US" sz="1500" dirty="0"/>
          </a:p>
        </p:txBody>
      </p:sp>
      <p:sp>
        <p:nvSpPr>
          <p:cNvPr id="18" name="Action card 3"/>
          <p:cNvSpPr/>
          <p:nvPr/>
        </p:nvSpPr>
        <p:spPr>
          <a:xfrm>
            <a:off x="548640" y="35661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Action 3 circle"/>
          <p:cNvSpPr/>
          <p:nvPr/>
        </p:nvSpPr>
        <p:spPr>
          <a:xfrm>
            <a:off x="822960" y="384048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0" name="Acti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023360"/>
            <a:ext cx="365760" cy="365760"/>
          </a:xfrm>
          <a:prstGeom prst="rect">
            <a:avLst/>
          </a:prstGeom>
        </p:spPr>
      </p:pic>
      <p:sp>
        <p:nvSpPr>
          <p:cNvPr id="21" name="Action title 3"/>
          <p:cNvSpPr txBox="1"/>
          <p:nvPr/>
        </p:nvSpPr>
        <p:spPr>
          <a:xfrm>
            <a:off x="178308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Bundle retail</a:t>
            </a:r>
            <a:endParaRPr lang="en-US" sz="1900" dirty="0"/>
          </a:p>
        </p:txBody>
      </p:sp>
      <p:sp>
        <p:nvSpPr>
          <p:cNvPr id="22" name="Action tag 3"/>
          <p:cNvSpPr/>
          <p:nvPr/>
        </p:nvSpPr>
        <p:spPr>
          <a:xfrm>
            <a:off x="4617720" y="38404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Action tag text 3"/>
          <p:cNvSpPr txBox="1"/>
          <p:nvPr/>
        </p:nvSpPr>
        <p:spPr>
          <a:xfrm>
            <a:off x="461772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TEST</a:t>
            </a:r>
            <a:endParaRPr lang="en-US" sz="1200" dirty="0"/>
          </a:p>
        </p:txBody>
      </p:sp>
      <p:sp>
        <p:nvSpPr>
          <p:cNvPr id="24" name="Action text 3"/>
          <p:cNvSpPr txBox="1"/>
          <p:nvPr/>
        </p:nvSpPr>
        <p:spPr>
          <a:xfrm>
            <a:off x="1783080" y="43434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2626"/>
                </a:solidFill>
              </a:rPr>
              <a:t>Pair beans, loose tea and chocolate with top drinks. Reduce shelf space if bundles fail.</a:t>
            </a:r>
            <a:endParaRPr lang="en-US" sz="1500" dirty="0"/>
          </a:p>
        </p:txBody>
      </p:sp>
      <p:sp>
        <p:nvSpPr>
          <p:cNvPr id="25" name="Action card 4"/>
          <p:cNvSpPr/>
          <p:nvPr/>
        </p:nvSpPr>
        <p:spPr>
          <a:xfrm>
            <a:off x="6217920" y="3566160"/>
            <a:ext cx="539496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Action 4 circle"/>
          <p:cNvSpPr/>
          <p:nvPr/>
        </p:nvSpPr>
        <p:spPr>
          <a:xfrm>
            <a:off x="6492240" y="3840480"/>
            <a:ext cx="731520" cy="73152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7" name="Action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0" y="4023360"/>
            <a:ext cx="365760" cy="365760"/>
          </a:xfrm>
          <a:prstGeom prst="rect">
            <a:avLst/>
          </a:prstGeom>
        </p:spPr>
      </p:pic>
      <p:sp>
        <p:nvSpPr>
          <p:cNvPr id="28" name="Action title 4"/>
          <p:cNvSpPr txBox="1"/>
          <p:nvPr/>
        </p:nvSpPr>
        <p:spPr>
          <a:xfrm>
            <a:off x="7452360" y="3794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chemeClr val="tx2"/>
                </a:solidFill>
              </a:rPr>
              <a:t>Share best practice</a:t>
            </a:r>
            <a:endParaRPr lang="en-US" sz="1900" dirty="0"/>
          </a:p>
        </p:txBody>
      </p:sp>
      <p:sp>
        <p:nvSpPr>
          <p:cNvPr id="29" name="Action tag 4"/>
          <p:cNvSpPr/>
          <p:nvPr/>
        </p:nvSpPr>
        <p:spPr>
          <a:xfrm>
            <a:off x="10287000" y="384048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Action tag text 4"/>
          <p:cNvSpPr txBox="1"/>
          <p:nvPr/>
        </p:nvSpPr>
        <p:spPr>
          <a:xfrm>
            <a:off x="1028700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DO NOW</a:t>
            </a:r>
            <a:endParaRPr lang="en-US" sz="1200" dirty="0"/>
          </a:p>
        </p:txBody>
      </p:sp>
      <p:sp>
        <p:nvSpPr>
          <p:cNvPr id="31" name="Action text 4"/>
          <p:cNvSpPr txBox="1"/>
          <p:nvPr/>
        </p:nvSpPr>
        <p:spPr>
          <a:xfrm>
            <a:off x="7452360" y="434340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62626"/>
                </a:solidFill>
              </a:rPr>
              <a:t>Use Lower Manhattan's basket value ($4.81) as the upselling training case.</a:t>
            </a:r>
            <a:endParaRPr lang="en-US" sz="1500" dirty="0"/>
          </a:p>
        </p:txBody>
      </p:sp>
      <p:sp>
        <p:nvSpPr>
          <p:cNvPr id="32" name="Monitor card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Monitor text"/>
          <p:cNvSpPr txBox="1"/>
          <p:nvPr/>
        </p:nvSpPr>
        <p:spPr>
          <a:xfrm>
            <a:off x="82296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Monitor: </a:t>
            </a:r>
            <a:r>
              <a:rPr lang="en-US" sz="1500" dirty="0">
                <a:solidFill>
                  <a:srgbClr val="262626"/>
                </a:solidFill>
              </a:rPr>
              <a:t>sales by 30-minute slot, store and product every week, using the dashboards.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Four-week experiment plan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</a:rPr>
              <a:t>Make the recommendations measurable before scaling them to all stores</a:t>
            </a:r>
            <a:endParaRPr lang="en-US" sz="1600" dirty="0"/>
          </a:p>
        </p:txBody>
      </p:sp>
      <p:sp>
        <p:nvSpPr>
          <p:cNvPr id="4" name="Timeline line"/>
          <p:cNvSpPr/>
          <p:nvPr/>
        </p:nvSpPr>
        <p:spPr>
          <a:xfrm>
            <a:off x="914400" y="1965960"/>
            <a:ext cx="10332720" cy="0"/>
          </a:xfrm>
          <a:prstGeom prst="line">
            <a:avLst/>
          </a:prstGeom>
          <a:noFill/>
          <a:ln w="254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Week badge 1 circle"/>
          <p:cNvSpPr/>
          <p:nvPr/>
        </p:nvSpPr>
        <p:spPr>
          <a:xfrm>
            <a:off x="1508760" y="164592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Week badge 1 number"/>
          <p:cNvSpPr txBox="1"/>
          <p:nvPr/>
        </p:nvSpPr>
        <p:spPr>
          <a:xfrm>
            <a:off x="150876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Week card 1"/>
          <p:cNvSpPr/>
          <p:nvPr/>
        </p:nvSpPr>
        <p:spPr>
          <a:xfrm>
            <a:off x="548640" y="2514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Week text 1"/>
          <p:cNvSpPr txBox="1"/>
          <p:nvPr/>
        </p:nvSpPr>
        <p:spPr>
          <a:xfrm>
            <a:off x="777240" y="26517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Week 1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Set baseline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Confirm current sales by time slot, store and product.</a:t>
            </a:r>
            <a:endParaRPr lang="en-US" sz="1500" dirty="0"/>
          </a:p>
        </p:txBody>
      </p:sp>
      <p:sp>
        <p:nvSpPr>
          <p:cNvPr id="9" name="Week badge 2 circle"/>
          <p:cNvSpPr/>
          <p:nvPr/>
        </p:nvSpPr>
        <p:spPr>
          <a:xfrm>
            <a:off x="4320540" y="164592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Week badge 2 number"/>
          <p:cNvSpPr txBox="1"/>
          <p:nvPr/>
        </p:nvSpPr>
        <p:spPr>
          <a:xfrm>
            <a:off x="432054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Week card 2"/>
          <p:cNvSpPr/>
          <p:nvPr/>
        </p:nvSpPr>
        <p:spPr>
          <a:xfrm>
            <a:off x="3360420" y="2514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Week text 2"/>
          <p:cNvSpPr txBox="1"/>
          <p:nvPr/>
        </p:nvSpPr>
        <p:spPr>
          <a:xfrm>
            <a:off x="3589020" y="26517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Week 2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Run pilot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Launch the afternoon offer in one store only.</a:t>
            </a:r>
            <a:endParaRPr lang="en-US" sz="1500" dirty="0"/>
          </a:p>
        </p:txBody>
      </p:sp>
      <p:sp>
        <p:nvSpPr>
          <p:cNvPr id="13" name="Week badge 3 circle"/>
          <p:cNvSpPr/>
          <p:nvPr/>
        </p:nvSpPr>
        <p:spPr>
          <a:xfrm>
            <a:off x="7132320" y="1645920"/>
            <a:ext cx="640080" cy="64008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Week badge 3 number"/>
          <p:cNvSpPr txBox="1"/>
          <p:nvPr/>
        </p:nvSpPr>
        <p:spPr>
          <a:xfrm>
            <a:off x="713232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Week card 3"/>
          <p:cNvSpPr/>
          <p:nvPr/>
        </p:nvSpPr>
        <p:spPr>
          <a:xfrm>
            <a:off x="6172200" y="2514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Week text 3"/>
          <p:cNvSpPr txBox="1"/>
          <p:nvPr/>
        </p:nvSpPr>
        <p:spPr>
          <a:xfrm>
            <a:off x="6400800" y="26517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Week 3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Compare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Compare the pilot store with the other stores and the baseline.</a:t>
            </a:r>
            <a:endParaRPr lang="en-US" sz="1500" dirty="0"/>
          </a:p>
        </p:txBody>
      </p:sp>
      <p:sp>
        <p:nvSpPr>
          <p:cNvPr id="17" name="Week badge 4 circle"/>
          <p:cNvSpPr/>
          <p:nvPr/>
        </p:nvSpPr>
        <p:spPr>
          <a:xfrm>
            <a:off x="9944100" y="1645920"/>
            <a:ext cx="640080" cy="64008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Week badge 4 number"/>
          <p:cNvSpPr txBox="1"/>
          <p:nvPr/>
        </p:nvSpPr>
        <p:spPr>
          <a:xfrm>
            <a:off x="9944100" y="1645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Week card 4"/>
          <p:cNvSpPr/>
          <p:nvPr/>
        </p:nvSpPr>
        <p:spPr>
          <a:xfrm>
            <a:off x="8983980" y="25146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Week text 4"/>
          <p:cNvSpPr txBox="1"/>
          <p:nvPr/>
        </p:nvSpPr>
        <p:spPr>
          <a:xfrm>
            <a:off x="9212580" y="2651760"/>
            <a:ext cx="2148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Week 4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chemeClr val="tx2"/>
                </a:solidFill>
              </a:rPr>
              <a:t>Decide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Scale, adjust or stop based on revenue uplift and operational load.</a:t>
            </a:r>
            <a:endParaRPr lang="en-US" sz="1500" dirty="0"/>
          </a:p>
        </p:txBody>
      </p:sp>
      <p:sp>
        <p:nvSpPr>
          <p:cNvPr id="21" name="Success measures card"/>
          <p:cNvSpPr/>
          <p:nvPr/>
        </p:nvSpPr>
        <p:spPr>
          <a:xfrm>
            <a:off x="548640" y="4709160"/>
            <a:ext cx="67665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uccess measures"/>
          <p:cNvSpPr txBox="1"/>
          <p:nvPr/>
        </p:nvSpPr>
        <p:spPr>
          <a:xfrm>
            <a:off x="777240" y="4873752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Success measures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Revenue per 30-minute slot  •  Transactions  •  Average sale  •  Product mix  •  Queue and service feedback</a:t>
            </a:r>
            <a:endParaRPr lang="en-US" sz="1500" dirty="0"/>
          </a:p>
        </p:txBody>
      </p:sp>
      <p:sp>
        <p:nvSpPr>
          <p:cNvPr id="23" name="Decision rule card"/>
          <p:cNvSpPr/>
          <p:nvPr/>
        </p:nvSpPr>
        <p:spPr>
          <a:xfrm>
            <a:off x="7589520" y="4709160"/>
            <a:ext cx="4023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Decision rule"/>
          <p:cNvSpPr txBox="1"/>
          <p:nvPr/>
        </p:nvSpPr>
        <p:spPr>
          <a:xfrm>
            <a:off x="7818120" y="4873752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accent2"/>
                </a:solidFill>
              </a:rPr>
              <a:t>Decision rule</a:t>
            </a:r>
            <a:endParaRPr lang="en-US" sz="15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62626"/>
                </a:solidFill>
              </a:rPr>
              <a:t>Scale only if revenue uplift is visible without creating operational pressure.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2"/>
                </a:solidFill>
              </a:rPr>
              <a:t>Limitations and next data to collect</a:t>
            </a:r>
            <a:endParaRPr lang="en-US" sz="3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</a:rPr>
              <a:t>Strong enough for sales decisions, not yet for margin and loyalty decisions</a:t>
            </a:r>
            <a:endParaRPr lang="en-US" sz="1600" dirty="0"/>
          </a:p>
        </p:txBody>
      </p:sp>
      <p:sp>
        <p:nvSpPr>
          <p:cNvPr id="4" name="Not available card"/>
          <p:cNvSpPr/>
          <p:nvPr/>
        </p:nvSpPr>
        <p:spPr>
          <a:xfrm>
            <a:off x="548640" y="160020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9DC3E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Not available heading"/>
          <p:cNvSpPr txBox="1"/>
          <p:nvPr/>
        </p:nvSpPr>
        <p:spPr>
          <a:xfrm>
            <a:off x="82296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Data not available</a:t>
            </a:r>
            <a:endParaRPr lang="en-US" sz="1800" dirty="0"/>
          </a:p>
        </p:txBody>
      </p:sp>
      <p:sp>
        <p:nvSpPr>
          <p:cNvPr id="6" name="Not available list"/>
          <p:cNvSpPr txBox="1"/>
          <p:nvPr/>
        </p:nvSpPr>
        <p:spPr>
          <a:xfrm>
            <a:off x="822960" y="224028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</a:rPr>
              <a:t>Item cost, profit and product margin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</a:rPr>
              <a:t>Staffing by store and shift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</a:rPr>
              <a:t>Repeat customers and loyalty behaviour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</a:rPr>
              <a:t>Promotion response by customer segment</a:t>
            </a:r>
            <a:endParaRPr lang="en-US" sz="1500" dirty="0"/>
          </a:p>
        </p:txBody>
      </p:sp>
      <p:sp>
        <p:nvSpPr>
          <p:cNvPr id="7" name="Add next card"/>
          <p:cNvSpPr/>
          <p:nvPr/>
        </p:nvSpPr>
        <p:spPr>
          <a:xfrm>
            <a:off x="6217920" y="1600200"/>
            <a:ext cx="5394960" cy="2606040"/>
          </a:xfrm>
          <a:prstGeom prst="roundRect">
            <a:avLst>
              <a:gd name="adj" fmla="val 2807"/>
            </a:avLst>
          </a:prstGeom>
          <a:solidFill>
            <a:srgbClr val="DEEBF7"/>
          </a:solidFill>
          <a:ln w="12700">
            <a:solidFill>
              <a:srgbClr val="DEEBF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Add next heading"/>
          <p:cNvSpPr txBox="1"/>
          <p:nvPr/>
        </p:nvSpPr>
        <p:spPr>
          <a:xfrm>
            <a:off x="6492240" y="17373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Add next</a:t>
            </a:r>
            <a:endParaRPr lang="en-US" sz="1800" dirty="0"/>
          </a:p>
        </p:txBody>
      </p:sp>
      <p:sp>
        <p:nvSpPr>
          <p:cNvPr id="9" name="Add next list"/>
          <p:cNvSpPr txBox="1"/>
          <p:nvPr/>
        </p:nvSpPr>
        <p:spPr>
          <a:xfrm>
            <a:off x="6492240" y="2240280"/>
            <a:ext cx="48463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</a:rPr>
              <a:t>Cost and margin by product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</a:rPr>
              <a:t>Promotion flag in transaction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</a:rPr>
              <a:t>Customer or loyalty identifier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262626"/>
                </a:solidFill>
              </a:rPr>
              <a:t>Weather or event context</a:t>
            </a:r>
            <a:endParaRPr lang="en-US" sz="1500" dirty="0"/>
          </a:p>
        </p:txBody>
      </p:sp>
      <p:sp>
        <p:nvSpPr>
          <p:cNvPr id="10" name="Final recommendation card"/>
          <p:cNvSpPr/>
          <p:nvPr/>
        </p:nvSpPr>
        <p:spPr>
          <a:xfrm>
            <a:off x="548640" y="44348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Final recommendation"/>
          <p:cNvSpPr txBox="1"/>
          <p:nvPr/>
        </p:nvSpPr>
        <p:spPr>
          <a:xfrm>
            <a:off x="822960" y="443484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Final recommendation: </a:t>
            </a:r>
            <a:r>
              <a:rPr lang="en-US" sz="1700" dirty="0">
                <a:solidFill>
                  <a:schemeClr val="bg1"/>
                </a:solidFill>
              </a:rPr>
              <a:t>approve a four-week pilot focused on afternoon demand and retail bundles, while immediately improving morning staffing and stock planning.</a:t>
            </a:r>
            <a:endParaRPr lang="en-US" sz="1700" dirty="0"/>
          </a:p>
        </p:txBody>
      </p:sp>
      <p:sp>
        <p:nvSpPr>
          <p:cNvPr id="12" name="Thank you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Thank you  |  Questions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ight Coffee Corporate Blue">
  <a:themeElements>
    <a:clrScheme name="Bright Coffee Corporate Blue">
      <a:dk1>
        <a:srgbClr val="262626"/>
      </a:dk1>
      <a:lt1>
        <a:srgbClr val="FFFFFF"/>
      </a:lt1>
      <a:dk2>
        <a:srgbClr val="1F3864"/>
      </a:dk2>
      <a:lt2>
        <a:srgbClr val="DEEBF7"/>
      </a:lt2>
      <a:accent1>
        <a:srgbClr val="2E75B6"/>
      </a:accent1>
      <a:accent2>
        <a:srgbClr val="ED7D31"/>
      </a:accent2>
      <a:accent3>
        <a:srgbClr val="9DC3E6"/>
      </a:accent3>
      <a:accent4>
        <a:srgbClr val="1F3864"/>
      </a:accent4>
      <a:accent5>
        <a:srgbClr val="8EA9DB"/>
      </a:accent5>
      <a:accent6>
        <a:srgbClr val="A5A5A5"/>
      </a:accent6>
      <a:hlink>
        <a:srgbClr val="2E75B6"/>
      </a:hlink>
      <a:folHlink>
        <a:srgbClr val="7F7F7F"/>
      </a:folHlink>
    </a:clrScheme>
    <a:fontScheme name="Bright Coffee Corporate Blu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1012</Words>
  <Application>Microsoft Office PowerPoint</Application>
  <PresentationFormat>Widescreen</PresentationFormat>
  <Paragraphs>174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Bright Coffee Corporate Blue</vt:lpstr>
      <vt:lpstr>Bright Coffee Shop</vt:lpstr>
      <vt:lpstr>Contents</vt:lpstr>
      <vt:lpstr>Executive answer in one slide</vt:lpstr>
      <vt:lpstr>Data and method</vt:lpstr>
      <vt:lpstr>Revenue doubled in six months</vt:lpstr>
      <vt:lpstr>The morning rush is the growth engine</vt:lpstr>
      <vt:lpstr>Stores are balanced — learn from the small differences</vt:lpstr>
      <vt:lpstr>Coffee and tea carry the business</vt:lpstr>
      <vt:lpstr>Recommended operating moves</vt:lpstr>
      <vt:lpstr>Four-week experiment plan</vt:lpstr>
      <vt:lpstr>Limitations and next data to collect</vt:lpstr>
    </vt:vector>
  </TitlesOfParts>
  <Company>BrightLearn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Coffee Shop Sales Analysis &amp; Growth Plan</dc:title>
  <dc:subject>PptxGenJS Presentation</dc:subject>
  <dc:creator>DT Mbenga</dc:creator>
  <cp:lastModifiedBy>daniel tshikaya</cp:lastModifiedBy>
  <cp:revision>1</cp:revision>
  <dcterms:created xsi:type="dcterms:W3CDTF">2026-10-09T14:18:45Z</dcterms:created>
  <dcterms:modified xsi:type="dcterms:W3CDTF">2026-10-09T14:22:39Z</dcterms:modified>
</cp:coreProperties>
</file>